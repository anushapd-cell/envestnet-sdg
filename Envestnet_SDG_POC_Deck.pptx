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Envestnet UMP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2057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Test Data Generator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971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Custodian-format-agnostic. Coverage-driven. Plug-and-play.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023360"/>
            <a:ext cx="2606040" cy="1371600"/>
          </a:xfrm>
          <a:prstGeom prst="rect">
            <a:avLst/>
          </a:prstGeom>
          <a:solidFill>
            <a:srgbClr val="0F153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206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Stonex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4892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4023360"/>
            <a:ext cx="2606040" cy="1371600"/>
          </a:xfrm>
          <a:prstGeom prst="rect">
            <a:avLst/>
          </a:prstGeom>
          <a:solidFill>
            <a:srgbClr val="0F153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4206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337560" y="4892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types in Phase 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4023360"/>
            <a:ext cx="2606040" cy="1371600"/>
          </a:xfrm>
          <a:prstGeom prst="rect">
            <a:avLst/>
          </a:prstGeom>
          <a:solidFill>
            <a:srgbClr val="0F153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4206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6126480" y="4892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023360"/>
            <a:ext cx="2606040" cy="1371600"/>
          </a:xfrm>
          <a:prstGeom prst="rect">
            <a:avLst/>
          </a:prstGeom>
          <a:solidFill>
            <a:srgbClr val="0F153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5400" y="4206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8915400" y="4892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Infosystems  ·  QA &amp; Test Automation Practice  ·  POC Plan v4 ·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phases · One framework · Four file types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profiles all 4 Stonex feeds. Phase 2 generates synthetic data on the most complex one (Cash).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2103120"/>
          </a:xfrm>
          <a:prstGeom prst="rect">
            <a:avLst/>
          </a:prstGeom>
          <a:solidFill>
            <a:srgbClr val="CADCFC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Master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1214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3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sal_act.txt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PSV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records · 4 lines each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Dashed-line separator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554480"/>
            <a:ext cx="2606040" cy="2103120"/>
          </a:xfrm>
          <a:prstGeom prst="rect">
            <a:avLst/>
          </a:prstGeom>
          <a:solidFill>
            <a:srgbClr val="1E2761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691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Transactions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1214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Sal_csh.txt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468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Single-line, variable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834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records · 45-58 fields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3246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scope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2606040" cy="2103120"/>
          </a:xfrm>
          <a:prstGeom prst="rect">
            <a:avLst/>
          </a:prstGeom>
          <a:solidFill>
            <a:srgbClr val="CADCFC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691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1214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3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Sal_pos.txt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2468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Single-line, fixed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834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records · 39 fields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3246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R/C indicator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15400" y="1554480"/>
            <a:ext cx="2606040" cy="2103120"/>
          </a:xfrm>
          <a:prstGeom prst="rect">
            <a:avLst/>
          </a:prstGeom>
          <a:solidFill>
            <a:srgbClr val="CADCFC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1691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Reinvested Activity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52560" y="21214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3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sal_rad.txt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52560" y="2468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PSV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52560" y="2834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records · 2 lines each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52560" y="3246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CUSIPs (FBNDX, FSTGX)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Golden Data Preparation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files → Smart Reader → Profile + Cleanse + Mask → 4 golden_*.json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892040"/>
            <a:ext cx="5486400" cy="1280160"/>
          </a:xfrm>
          <a:prstGeom prst="rect">
            <a:avLst/>
          </a:prstGeom>
          <a:solidFill>
            <a:srgbClr val="CADCFC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98348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+ single-line + variable-length PSV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schema, types, ranges, distributions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· CUSIP check-digit validation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4 portable schema blueprints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Test Data Generation (Cash)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golden_cash.json → Coverage Matrix → Faker → Mutations → synthetic_cash.txt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0" y="4892040"/>
            <a:ext cx="5486400" cy="1280160"/>
          </a:xfrm>
          <a:prstGeom prst="rect">
            <a:avLst/>
          </a:prstGeom>
          <a:solidFill>
            <a:srgbClr val="1E2761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498348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18-combo coverage matrix · 7 real txn codes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positive records · 9 controlled mutations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predicts UMP outcome per row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seed = byte-identical output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extends to other 3 file types post-delivery — same framework, no architectural changes.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by design · Errors by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file: 18 combinations of real txn codes × variants. 9 mutations cover the rejection surface.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Matrix — 18 combos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5486400" cy="3931920"/>
        </p:xfrm>
        <a:graphic>
          <a:graphicData uri="http://schemas.openxmlformats.org/drawingml/2006/table">
            <a:tbl>
              <a:tblPr/>
              <a:tblGrid>
                <a:gridCol w="777240"/>
                <a:gridCol w="1920240"/>
                <a:gridCol w="2286000"/>
                <a:gridCol w="5029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Variants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WTFEE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Wire transfer fee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36363"/>
                          </a:solidFill>
                        </a:rPr>
                        <a:t>small / large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JRL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Journal / fund transfer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36363"/>
                          </a:solidFill>
                        </a:rPr>
                        <a:t>TO_TYPE_1 / FROM_TYPE_2 / TO_ROTH / FROM_IRA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STAX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Foreign tax withholding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36363"/>
                          </a:solidFill>
                        </a:rPr>
                        <a:t>Common stock / Fund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RDIV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Reinvest dividend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36363"/>
                          </a:solidFill>
                        </a:rPr>
                        <a:t>small / medium / large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WRAP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Mgmt fee / wrap fee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36363"/>
                          </a:solidFill>
                        </a:rPr>
                        <a:t>Quarterly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RPRM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Premium / distribution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36363"/>
                          </a:solidFill>
                        </a:rPr>
                        <a:t>To Roth / To Reg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YRINC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Year income (div+interest)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36363"/>
                          </a:solidFill>
                        </a:rPr>
                        <a:t>C +/- / F +/-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Total positive records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72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Mutations — controlled errors</a:t>
            </a:r>
            <a:endParaRPr lang="en-US" sz="16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920240"/>
          <a:ext cx="5486400" cy="3520440"/>
        </p:xfrm>
        <a:graphic>
          <a:graphicData uri="http://schemas.openxmlformats.org/drawingml/2006/table">
            <a:tbl>
              <a:tblPr/>
              <a:tblGrid>
                <a:gridCol w="365760"/>
                <a:gridCol w="2743200"/>
                <a:gridCol w="1188720"/>
                <a:gridCol w="1188720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Mutation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strip_required_field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36363"/>
                          </a:solidFill>
                        </a:rPr>
                        <a:t>missing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reject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inject_invalid_date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36363"/>
                          </a:solidFill>
                        </a:rPr>
                        <a:t>invalid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reject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inject_text_in_numeric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36363"/>
                          </a:solidFill>
                        </a:rPr>
                        <a:t>invalid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reject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inject_invalid_cusip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36363"/>
                          </a:solidFill>
                        </a:rPr>
                        <a:t>negative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reject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inject_invalid_txn_code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36363"/>
                          </a:solidFill>
                        </a:rPr>
                        <a:t>negative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reject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inject_future_settle_date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36363"/>
                          </a:solidFill>
                        </a:rPr>
                        <a:t>negative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reject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inject_implausible_negative*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36363"/>
                          </a:solidFill>
                        </a:rPr>
                        <a:t>negative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reject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zero_amount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36363"/>
                          </a:solidFill>
                        </a:rPr>
                        <a:t>edge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</a:rPr>
                        <a:t>warn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very_large_amount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36363"/>
                          </a:solidFill>
                        </a:rPr>
                        <a:t>edge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</a:rPr>
                        <a:t>warn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0" y="5532120"/>
            <a:ext cx="5486400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37960" y="5577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Mutation #7 reworked — real cash data has legitimate negatives (YRINC reversals)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per run: ~81 rows  ·  72 positive (accept)  ·  7 reject  ·  2 warn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days · Three roles · Three branches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ownership by system layer. Day 2 sub-milestone unblocks parallelism. Day 7 demo + handover.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38303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31670" y="1554480"/>
            <a:ext cx="138303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31670" y="155448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14700" y="1554480"/>
            <a:ext cx="138303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4700" y="155448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97730" y="1554480"/>
            <a:ext cx="138303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7730" y="155448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1554480"/>
            <a:ext cx="138303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55448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63790" y="1554480"/>
            <a:ext cx="138303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3790" y="155448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46820" y="1554480"/>
            <a:ext cx="138303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46820" y="155448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229850" y="1554480"/>
            <a:ext cx="138303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29850" y="1554480"/>
            <a:ext cx="1383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011680"/>
            <a:ext cx="1383030" cy="731520"/>
          </a:xfrm>
          <a:prstGeom prst="rect">
            <a:avLst/>
          </a:prstGeom>
          <a:solidFill>
            <a:srgbClr val="1E2761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011680"/>
            <a:ext cx="13830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Pipeline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31670" y="2011680"/>
            <a:ext cx="1383030" cy="731520"/>
          </a:xfrm>
          <a:prstGeom prst="rect">
            <a:avLst/>
          </a:prstGeom>
          <a:solidFill>
            <a:srgbClr val="CADCFC"/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77390" y="2057400"/>
            <a:ext cx="1291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· Smart reader POC · Read 4 files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14700" y="2011680"/>
            <a:ext cx="1383030" cy="731520"/>
          </a:xfrm>
          <a:prstGeom prst="rect">
            <a:avLst/>
          </a:prstGeom>
          <a:solidFill>
            <a:srgbClr val="1E2761"/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0420" y="2057400"/>
            <a:ext cx="1291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golden_cash.json EOD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97730" y="2011680"/>
            <a:ext cx="1383030" cy="731520"/>
          </a:xfrm>
          <a:prstGeom prst="rect">
            <a:avLst/>
          </a:prstGeom>
          <a:solidFill>
            <a:srgbClr val="1E2761"/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43450" y="2057400"/>
            <a:ext cx="1291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All 4 golden refs EOD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80760" y="2011680"/>
            <a:ext cx="1383030" cy="731520"/>
          </a:xfrm>
          <a:prstGeom prst="rect">
            <a:avLst/>
          </a:prstGeom>
          <a:solidFill>
            <a:srgbClr val="CADCFC"/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2057400"/>
            <a:ext cx="1291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· Help B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63790" y="2011680"/>
            <a:ext cx="1383030" cy="731520"/>
          </a:xfrm>
          <a:prstGeom prst="rect">
            <a:avLst/>
          </a:prstGeom>
          <a:solidFill>
            <a:srgbClr val="CADCFC"/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09510" y="2057400"/>
            <a:ext cx="1291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· Edge cases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846820" y="2011680"/>
            <a:ext cx="1383030" cy="731520"/>
          </a:xfrm>
          <a:prstGeom prst="rect">
            <a:avLst/>
          </a:prstGeom>
          <a:solidFill>
            <a:srgbClr val="CADCFC"/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92540" y="2057400"/>
            <a:ext cx="1291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review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229850" y="2011680"/>
            <a:ext cx="1383030" cy="731520"/>
          </a:xfrm>
          <a:prstGeom prst="rect">
            <a:avLst/>
          </a:prstGeom>
          <a:solidFill>
            <a:srgbClr val="CADCFC"/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75570" y="2057400"/>
            <a:ext cx="1291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· Demo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2743200"/>
            <a:ext cx="1383030" cy="731520"/>
          </a:xfrm>
          <a:prstGeom prst="rect">
            <a:avLst/>
          </a:prstGeom>
          <a:solidFill>
            <a:srgbClr val="1E2761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743200"/>
            <a:ext cx="13830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Generator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931670" y="2743200"/>
            <a:ext cx="1383030" cy="731520"/>
          </a:xfrm>
          <a:prstGeom prst="rect">
            <a:avLst/>
          </a:prstGeom>
          <a:solidFill>
            <a:srgbClr val="CADCFC"/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77390" y="2788920"/>
            <a:ext cx="1291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· Coverage matrix · Mock golden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14700" y="2743200"/>
            <a:ext cx="1383030" cy="731520"/>
          </a:xfrm>
          <a:prstGeom prst="rect">
            <a:avLst/>
          </a:prstGeom>
          <a:solidFill>
            <a:srgbClr val="CADCFC"/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60420" y="2788920"/>
            <a:ext cx="1291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Faker · CUSIP · Generators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97730" y="2743200"/>
            <a:ext cx="1383030" cy="731520"/>
          </a:xfrm>
          <a:prstGeom prst="rect">
            <a:avLst/>
          </a:prstGeom>
          <a:solidFill>
            <a:srgbClr val="CADCFC"/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43450" y="2788920"/>
            <a:ext cx="1291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positive records · Swap mock to real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80760" y="2743200"/>
            <a:ext cx="1383030" cy="731520"/>
          </a:xfrm>
          <a:prstGeom prst="rect">
            <a:avLst/>
          </a:prstGeom>
          <a:solidFill>
            <a:srgbClr val="CADCFC"/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2788920"/>
            <a:ext cx="1291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mutations · Manifest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63790" y="2743200"/>
            <a:ext cx="1383030" cy="731520"/>
          </a:xfrm>
          <a:prstGeom prst="rect">
            <a:avLst/>
          </a:prstGeom>
          <a:solidFill>
            <a:srgbClr val="1E2761"/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09510" y="2788920"/>
            <a:ext cx="1291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Phase 2 complete EOD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846820" y="2743200"/>
            <a:ext cx="1383030" cy="731520"/>
          </a:xfrm>
          <a:prstGeom prst="rect">
            <a:avLst/>
          </a:prstGeom>
          <a:solidFill>
            <a:srgbClr val="CADCFC"/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92540" y="2788920"/>
            <a:ext cx="1291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review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229850" y="2743200"/>
            <a:ext cx="1383030" cy="731520"/>
          </a:xfrm>
          <a:prstGeom prst="rect">
            <a:avLst/>
          </a:prstGeom>
          <a:solidFill>
            <a:srgbClr val="CADCFC"/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275570" y="2788920"/>
            <a:ext cx="1291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· Demo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8640" y="3474720"/>
            <a:ext cx="1383030" cy="731520"/>
          </a:xfrm>
          <a:prstGeom prst="rect">
            <a:avLst/>
          </a:prstGeom>
          <a:solidFill>
            <a:srgbClr val="1E2761"/>
          </a:solidFill>
          <a:ln w="6350">
            <a:solidFill>
              <a:srgbClr val="0F153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3474720"/>
            <a:ext cx="13830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Integration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931670" y="3474720"/>
            <a:ext cx="1383030" cy="731520"/>
          </a:xfrm>
          <a:prstGeom prst="rect">
            <a:avLst/>
          </a:prstGeom>
          <a:solidFill>
            <a:srgbClr val="CADCFC"/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77390" y="3520440"/>
            <a:ext cx="1291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· Scaffolding · CLI skeleton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314700" y="3474720"/>
            <a:ext cx="1383030" cy="731520"/>
          </a:xfrm>
          <a:prstGeom prst="rect">
            <a:avLst/>
          </a:prstGeom>
          <a:solidFill>
            <a:srgbClr val="CADCFC"/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60420" y="3520440"/>
            <a:ext cx="1291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infra · Validate scaffold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97730" y="3474720"/>
            <a:ext cx="1383030" cy="731520"/>
          </a:xfrm>
          <a:prstGeom prst="rect">
            <a:avLst/>
          </a:prstGeom>
          <a:solidFill>
            <a:srgbClr val="CADCFC"/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43450" y="3520440"/>
            <a:ext cx="1291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 · PSV renderer spec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080760" y="3474720"/>
            <a:ext cx="1383030" cy="731520"/>
          </a:xfrm>
          <a:prstGeom prst="rect">
            <a:avLst/>
          </a:prstGeom>
          <a:solidFill>
            <a:srgbClr val="CADCFC"/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0" y="3520440"/>
            <a:ext cx="1291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PSV renderer · Wire CLI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463790" y="3474720"/>
            <a:ext cx="1383030" cy="731520"/>
          </a:xfrm>
          <a:prstGeom prst="rect">
            <a:avLst/>
          </a:prstGeom>
          <a:solidFill>
            <a:srgbClr val="CADCFC"/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09510" y="3520440"/>
            <a:ext cx="1291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tests · Reproducibility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846820" y="3474720"/>
            <a:ext cx="1383030" cy="731520"/>
          </a:xfrm>
          <a:prstGeom prst="rect">
            <a:avLst/>
          </a:prstGeom>
          <a:solidFill>
            <a:srgbClr val="1E2761"/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892540" y="3520440"/>
            <a:ext cx="1291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DEPLOYMENT_GUIDE.md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0229850" y="3474720"/>
            <a:ext cx="1383030" cy="731520"/>
          </a:xfrm>
          <a:prstGeom prst="rect">
            <a:avLst/>
          </a:prstGeom>
          <a:solidFill>
            <a:srgbClr val="CADCFC"/>
          </a:solidFill>
          <a:ln w="6350">
            <a:solidFill>
              <a:srgbClr val="3D5A8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275570" y="3520440"/>
            <a:ext cx="12915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polish · Handover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48640" y="4434840"/>
            <a:ext cx="2606040" cy="914400"/>
          </a:xfrm>
          <a:prstGeom prst="rect">
            <a:avLst/>
          </a:prstGeom>
          <a:solidFill>
            <a:srgbClr val="1E2761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5800" y="4526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2103120" y="45262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85800" y="4892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golden_cash.json EOD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3337560" y="4434840"/>
            <a:ext cx="2606040" cy="914400"/>
          </a:xfrm>
          <a:prstGeom prst="rect">
            <a:avLst/>
          </a:prstGeom>
          <a:solidFill>
            <a:srgbClr val="1E2761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74720" y="4526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4892040" y="45262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3474720" y="4892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golden refs EOD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6126480" y="4434840"/>
            <a:ext cx="2606040" cy="914400"/>
          </a:xfrm>
          <a:prstGeom prst="rect">
            <a:avLst/>
          </a:prstGeom>
          <a:solidFill>
            <a:srgbClr val="1E2761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63640" y="4526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7680960" y="45262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B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263640" y="4892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complete EOD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8915400" y="4434840"/>
            <a:ext cx="2606040" cy="914400"/>
          </a:xfrm>
          <a:prstGeom prst="rect">
            <a:avLst/>
          </a:prstGeom>
          <a:solidFill>
            <a:srgbClr val="1E2761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052560" y="4526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10469880" y="45262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9052560" y="4892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guide done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Success Criteria</a:t>
            </a:r>
            <a:endParaRPr lang="en-US" sz="1400" dirty="0"/>
          </a:p>
        </p:txBody>
      </p:sp>
      <p:sp>
        <p:nvSpPr>
          <p:cNvPr id="85" name="Text 83"/>
          <p:cNvSpPr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golden references · Synthetic cash file with full coverage + mutations · Manifest predicts every UMP outcome · Byte-identical reproducibility · Deployment runbook validated on fresh machine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Nous Infosystems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Envestnet UMP — Synthetic Test Data Generator POC</dc:title>
  <dc:subject>PptxGenJS Presentation</dc:subject>
  <dc:creator>Nous Infosystems · QA &amp; Test Automation Practice</dc:creator>
  <cp:lastModifiedBy>Nous Infosystems · QA &amp; Test Automation Practice</cp:lastModifiedBy>
  <cp:revision>1</cp:revision>
  <dcterms:created xsi:type="dcterms:W3CDTF">2026-04-28T07:33:19Z</dcterms:created>
  <dcterms:modified xsi:type="dcterms:W3CDTF">2026-04-28T07:33:19Z</dcterms:modified>
</cp:coreProperties>
</file>